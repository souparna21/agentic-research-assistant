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0B2D5C"/>
                </a:solidFill>
              </a:rPr>
              <a:t>Agentic Research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Multi-Paper Literature Review with Multi-Agent RAG</a:t>
            </a:r>
          </a:p>
          <a:p/>
          <a:p>
            <a:r>
              <a:t>IE624 Course Project — IIT Bombay</a:t>
            </a:r>
          </a:p>
          <a:p>
            <a:r>
              <a:t>Souparna Bhowmik (25D1386)  ·  Damor Jaydipkumar (22B4221)  ·  Akash Sansugu Palaniswami (21D171001)</a:t>
            </a:r>
          </a:p>
          <a:p/>
          <a:p>
            <a: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B2D5C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1E5FA6"/>
                </a:solidFill>
              </a:rPr>
              <a:t>Manual literature reviews don't scale.</a:t>
            </a:r>
          </a:p>
          <a:p>
            <a:pPr/>
            <a:r>
              <a:rPr sz="2000">
                <a:solidFill>
                  <a:srgbClr val="0B2D5C"/>
                </a:solidFill>
              </a:rPr>
              <a:t>A single survey paper takes weeks of expert reading + cross-comparison.</a:t>
            </a:r>
          </a:p>
          <a:p>
            <a:pPr/>
            <a:r>
              <a:rPr sz="2000">
                <a:solidFill>
                  <a:srgbClr val="0B2D5C"/>
                </a:solidFill>
              </a:rPr>
              <a:t>arXiv alone added 200K+ papers in 2024; CS papers double every ~2 years.</a:t>
            </a:r>
          </a:p>
          <a:p>
            <a:pPr/>
            <a:r>
              <a:rPr sz="2000">
                <a:solidFill>
                  <a:srgbClr val="0B2D5C"/>
                </a:solidFill>
              </a:rPr>
              <a:t>Researchers must read, summarize, compare methods, identify gaps — manually.</a:t>
            </a:r>
          </a:p>
          <a:p>
            <a:pPr/>
            <a:r>
              <a:rPr sz="2200" b="1">
                <a:solidFill>
                  <a:srgbClr val="1E5FA6"/>
                </a:solidFill>
              </a:rPr>
              <a:t>Existing AI tools have gaps too.</a:t>
            </a:r>
          </a:p>
          <a:p>
            <a:pPr/>
            <a:r>
              <a:rPr sz="2000">
                <a:solidFill>
                  <a:srgbClr val="0B2D5C"/>
                </a:solidFill>
              </a:rPr>
              <a:t>ChatGPT/Gemini hallucinate citations and invent papers (Belem 2025: up to 75%).</a:t>
            </a:r>
          </a:p>
          <a:p>
            <a:pPr/>
            <a:r>
              <a:rPr sz="2000">
                <a:solidFill>
                  <a:srgbClr val="0B2D5C"/>
                </a:solidFill>
              </a:rPr>
              <a:t>Generic RAG lacks per-claim grounding and cross-paper synthesis.</a:t>
            </a:r>
          </a:p>
          <a:p>
            <a:pPr/>
            <a:r>
              <a:rPr sz="2000">
                <a:solidFill>
                  <a:srgbClr val="0B2D5C"/>
                </a:solidFill>
              </a:rPr>
              <a:t>Commercial tools (Elicit, ResearchRabbit) are paid + closed source.</a:t>
            </a:r>
          </a:p>
          <a:p>
            <a:pPr/>
            <a:r>
              <a:rPr sz="2200" b="1">
                <a:solidFill>
                  <a:srgbClr val="1E5FA6"/>
                </a:solidFill>
              </a:rPr>
              <a:t>Our question: can we build a free, open, end-to-end pipeline that grounds every claim back to a source passage?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B2D5C"/>
                </a:solidFill>
              </a:rPr>
              <a:t>Goals &amp; Constraints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1E5FA6"/>
                </a:solidFill>
              </a:rPr>
              <a:t>Deliverable</a:t>
            </a:r>
          </a:p>
          <a:p>
            <a:pPr/>
            <a:r>
              <a:rPr sz="2000">
                <a:solidFill>
                  <a:srgbClr val="0B2D5C"/>
                </a:solidFill>
              </a:rPr>
              <a:t>Natural-language question -&gt; compilable LaTeX literature review with BibTeX citations.</a:t>
            </a:r>
          </a:p>
          <a:p>
            <a:pPr/>
            <a:r>
              <a:rPr sz="2000">
                <a:solidFill>
                  <a:srgbClr val="0B2D5C"/>
                </a:solidFill>
              </a:rPr>
              <a:t>Every generated claim cites a specific passage from a specific paper.</a:t>
            </a:r>
          </a:p>
          <a:p>
            <a:pPr/>
            <a:r>
              <a:rPr sz="2000">
                <a:solidFill>
                  <a:srgbClr val="0B2D5C"/>
                </a:solidFill>
              </a:rPr>
              <a:t>Reproducible offline demo (no API key required).</a:t>
            </a:r>
          </a:p>
          <a:p>
            <a:pPr/>
            <a:r>
              <a:rPr sz="2200" b="1">
                <a:solidFill>
                  <a:srgbClr val="1E5FA6"/>
                </a:solidFill>
              </a:rPr>
              <a:t>Hard constraints</a:t>
            </a:r>
          </a:p>
          <a:p>
            <a:pPr/>
            <a:r>
              <a:rPr sz="2000">
                <a:solidFill>
                  <a:srgbClr val="0B2D5C"/>
                </a:solidFill>
              </a:rPr>
              <a:t>$0 budget — free-tier APIs only (Gemini Flash, Semantic Scholar, arXiv).</a:t>
            </a:r>
          </a:p>
          <a:p>
            <a:pPr/>
            <a:r>
              <a:rPr sz="2000">
                <a:solidFill>
                  <a:srgbClr val="0B2D5C"/>
                </a:solidFill>
              </a:rPr>
              <a:t>3-person team, semester timeframe — favors simplicity over novelty.</a:t>
            </a:r>
          </a:p>
          <a:p>
            <a:pPr/>
            <a:r>
              <a:rPr sz="2000">
                <a:solidFill>
                  <a:srgbClr val="0B2D5C"/>
                </a:solidFill>
              </a:rPr>
              <a:t>Local-first — no cloud servers, no managed databases, no deployment infra.</a:t>
            </a:r>
          </a:p>
          <a:p>
            <a:pPr/>
            <a:r>
              <a:rPr sz="2200" b="1">
                <a:solidFill>
                  <a:srgbClr val="1E5FA6"/>
                </a:solidFill>
              </a:rPr>
              <a:t>Out of scope (deliberate)</a:t>
            </a:r>
          </a:p>
          <a:p>
            <a:pPr/>
            <a:r>
              <a:rPr sz="2000">
                <a:solidFill>
                  <a:srgbClr val="0B2D5C"/>
                </a:solidFill>
              </a:rPr>
              <a:t>GraphRAG, RLHF fine-tuning, web UI, autonomous multi-agent coordination.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B2D5C"/>
                </a:solidFill>
              </a:rPr>
              <a:t>System Architecture: 6-Agent Sequential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17220" y="1828800"/>
            <a:ext cx="1280160" cy="1097280"/>
          </a:xfrm>
          <a:prstGeom prst="roundRect">
            <a:avLst/>
          </a:prstGeom>
          <a:solidFill>
            <a:srgbClr val="CEE0F2"/>
          </a:solidFill>
          <a:ln w="19050">
            <a:solidFill>
              <a:srgbClr val="0B2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b="1" sz="1400">
                <a:solidFill>
                  <a:srgbClr val="0B2D5C"/>
                </a:solidFill>
              </a:rPr>
              <a:t>Query</a:t>
            </a:r>
          </a:p>
          <a:p>
            <a:r>
              <a:rPr sz="900">
                <a:solidFill>
                  <a:srgbClr val="555555"/>
                </a:solidFill>
              </a:rPr>
              <a:t>Gemini</a:t>
            </a:r>
            <a:br/>
            <a:r>
              <a:rPr sz="900">
                <a:solidFill>
                  <a:srgbClr val="555555"/>
                </a:solidFill>
              </a:rPr>
              <a:t>expansion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897380" y="2286000"/>
            <a:ext cx="45720" cy="182880"/>
          </a:xfrm>
          <a:prstGeom prst="rightArrow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943100" y="1828800"/>
            <a:ext cx="1280160" cy="1097280"/>
          </a:xfrm>
          <a:prstGeom prst="roundRect">
            <a:avLst/>
          </a:prstGeom>
          <a:solidFill>
            <a:srgbClr val="CEE0F2"/>
          </a:solidFill>
          <a:ln w="19050">
            <a:solidFill>
              <a:srgbClr val="0B2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b="1" sz="1400">
                <a:solidFill>
                  <a:srgbClr val="0B2D5C"/>
                </a:solidFill>
              </a:rPr>
              <a:t>Retrieval</a:t>
            </a:r>
          </a:p>
          <a:p>
            <a:r>
              <a:rPr sz="900">
                <a:solidFill>
                  <a:srgbClr val="555555"/>
                </a:solidFill>
              </a:rPr>
              <a:t>S2 + arXiv</a:t>
            </a:r>
            <a:br/>
            <a:r>
              <a:rPr sz="900">
                <a:solidFill>
                  <a:srgbClr val="555555"/>
                </a:solidFill>
              </a:rPr>
              <a:t>PDF download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23260" y="2286000"/>
            <a:ext cx="45720" cy="182880"/>
          </a:xfrm>
          <a:prstGeom prst="rightArrow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68980" y="1828800"/>
            <a:ext cx="1280160" cy="1097280"/>
          </a:xfrm>
          <a:prstGeom prst="roundRect">
            <a:avLst/>
          </a:prstGeom>
          <a:solidFill>
            <a:srgbClr val="CEE0F2"/>
          </a:solidFill>
          <a:ln w="19050">
            <a:solidFill>
              <a:srgbClr val="0B2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b="1" sz="1400">
                <a:solidFill>
                  <a:srgbClr val="0B2D5C"/>
                </a:solidFill>
              </a:rPr>
              <a:t>Extraction</a:t>
            </a:r>
          </a:p>
          <a:p>
            <a:r>
              <a:rPr sz="900">
                <a:solidFill>
                  <a:srgbClr val="555555"/>
                </a:solidFill>
              </a:rPr>
              <a:t>PyMuPDF</a:t>
            </a:r>
            <a:br/>
            <a:r>
              <a:rPr sz="900">
                <a:solidFill>
                  <a:srgbClr val="555555"/>
                </a:solidFill>
              </a:rPr>
              <a:t>+ injection</a:t>
            </a:r>
            <a:br/>
            <a:r>
              <a:rPr sz="900">
                <a:solidFill>
                  <a:srgbClr val="555555"/>
                </a:solidFill>
              </a:rPr>
              <a:t>defense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549140" y="2286000"/>
            <a:ext cx="45720" cy="182880"/>
          </a:xfrm>
          <a:prstGeom prst="rightArrow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94860" y="1828800"/>
            <a:ext cx="1280160" cy="1097280"/>
          </a:xfrm>
          <a:prstGeom prst="roundRect">
            <a:avLst/>
          </a:prstGeom>
          <a:solidFill>
            <a:srgbClr val="CEE0F2"/>
          </a:solidFill>
          <a:ln w="19050">
            <a:solidFill>
              <a:srgbClr val="0B2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b="1" sz="1400">
                <a:solidFill>
                  <a:srgbClr val="0B2D5C"/>
                </a:solidFill>
              </a:rPr>
              <a:t>Indexing</a:t>
            </a:r>
          </a:p>
          <a:p>
            <a:r>
              <a:rPr sz="900">
                <a:solidFill>
                  <a:srgbClr val="555555"/>
                </a:solidFill>
              </a:rPr>
              <a:t>MiniLM-L6-v2</a:t>
            </a:r>
            <a:br/>
            <a:r>
              <a:rPr sz="900">
                <a:solidFill>
                  <a:srgbClr val="555555"/>
                </a:solidFill>
              </a:rPr>
              <a:t>+ FAISS IP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75020" y="2286000"/>
            <a:ext cx="45720" cy="182880"/>
          </a:xfrm>
          <a:prstGeom prst="rightArrow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20740" y="1828800"/>
            <a:ext cx="1280160" cy="1097280"/>
          </a:xfrm>
          <a:prstGeom prst="roundRect">
            <a:avLst/>
          </a:prstGeom>
          <a:solidFill>
            <a:srgbClr val="CEE0F2"/>
          </a:solidFill>
          <a:ln w="19050">
            <a:solidFill>
              <a:srgbClr val="0B2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b="1" sz="1400">
                <a:solidFill>
                  <a:srgbClr val="0B2D5C"/>
                </a:solidFill>
              </a:rPr>
              <a:t>Analysis</a:t>
            </a:r>
          </a:p>
          <a:p>
            <a:r>
              <a:rPr sz="900">
                <a:solidFill>
                  <a:srgbClr val="555555"/>
                </a:solidFill>
              </a:rPr>
              <a:t>RAG +</a:t>
            </a:r>
            <a:br/>
            <a:r>
              <a:rPr sz="900">
                <a:solidFill>
                  <a:srgbClr val="555555"/>
                </a:solidFill>
              </a:rPr>
              <a:t>verifier</a:t>
            </a:r>
            <a:br/>
            <a:r>
              <a:rPr sz="900">
                <a:solidFill>
                  <a:srgbClr val="555555"/>
                </a:solidFill>
              </a:rPr>
              <a:t>(4N+2 calls)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200900" y="2286000"/>
            <a:ext cx="45720" cy="182880"/>
          </a:xfrm>
          <a:prstGeom prst="rightArrow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246620" y="1828800"/>
            <a:ext cx="1280160" cy="1097280"/>
          </a:xfrm>
          <a:prstGeom prst="roundRect">
            <a:avLst/>
          </a:prstGeom>
          <a:solidFill>
            <a:srgbClr val="CEE0F2"/>
          </a:solidFill>
          <a:ln w="19050">
            <a:solidFill>
              <a:srgbClr val="0B2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b="1" sz="1400">
                <a:solidFill>
                  <a:srgbClr val="0B2D5C"/>
                </a:solidFill>
              </a:rPr>
              <a:t>Report</a:t>
            </a:r>
          </a:p>
          <a:p>
            <a:r>
              <a:rPr sz="900">
                <a:solidFill>
                  <a:srgbClr val="555555"/>
                </a:solidFill>
              </a:rPr>
              <a:t>LaTeX +</a:t>
            </a:r>
            <a:br/>
            <a:r>
              <a:rPr sz="900">
                <a:solidFill>
                  <a:srgbClr val="555555"/>
                </a:solidFill>
              </a:rPr>
              <a:t>BibTeX +</a:t>
            </a:r>
            <a:br/>
            <a:r>
              <a:rPr sz="900">
                <a:solidFill>
                  <a:srgbClr val="555555"/>
                </a:solidFill>
              </a:rPr>
              <a:t>latexmk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" y="3291840"/>
            <a:ext cx="7909560" cy="548640"/>
          </a:xfrm>
          <a:prstGeom prst="roundRect">
            <a:avLst/>
          </a:prstGeom>
          <a:solidFill>
            <a:srgbClr val="EEEEE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i="1">
                <a:solidFill>
                  <a:srgbClr val="0B2D5C"/>
                </a:solidFill>
              </a:rPr>
              <a:t>Shared PipelineState (typed Pydantic model) — single-writer-per-field invariant enforced by Orchestrator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0690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555555"/>
                </a:solidFill>
              </a:rPr>
              <a:t>Each stage reads PipelineState, writes only to its registered fields, and appends a StageReport. Orchestrator snapshot-diffs non-owned fields before/after every run and raises FieldOwnershipViolation on cross-writes.</a:t>
            </a:r>
          </a:p>
          <a:p>
            <a:r>
              <a:rPr sz="1300">
                <a:solidFill>
                  <a:srgbClr val="555555"/>
                </a:solidFill>
              </a:rPr>
              <a:t>Idempotency: each stage skips if its output artifact exists (delete-to-invalidate). Per-paper try/except keeps stages healthy when individual papers fail.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B2D5C"/>
                </a:solidFill>
              </a:rPr>
              <a:t>Why Sequential, Not Autonomous Multi-Agent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1E5FA6"/>
                </a:solidFill>
              </a:rPr>
              <a:t>MAST (Cemri 2025) studied 200+ multi-agent LLM failures.</a:t>
            </a:r>
          </a:p>
          <a:p>
            <a:pPr/>
            <a:r>
              <a:rPr sz="2000">
                <a:solidFill>
                  <a:srgbClr val="0B2D5C"/>
                </a:solidFill>
              </a:rPr>
              <a:t>42% of failures are SPECIFICATION errors — agents disagree on shared state shape.</a:t>
            </a:r>
          </a:p>
          <a:p>
            <a:pPr/>
            <a:r>
              <a:rPr sz="2000">
                <a:solidFill>
                  <a:srgbClr val="0B2D5C"/>
                </a:solidFill>
              </a:rPr>
              <a:t>23% are INTER-AGENT communication errors.</a:t>
            </a:r>
          </a:p>
          <a:p>
            <a:pPr/>
            <a:r>
              <a:rPr sz="2000">
                <a:solidFill>
                  <a:srgbClr val="0B2D5C"/>
                </a:solidFill>
              </a:rPr>
              <a:t>Autonomous coordination compounds these in unpredictable ways.</a:t>
            </a:r>
          </a:p>
          <a:p>
            <a:pPr/>
            <a:r>
              <a:rPr sz="2200" b="1">
                <a:solidFill>
                  <a:srgbClr val="1E5FA6"/>
                </a:solidFill>
              </a:rPr>
              <a:t>Our defense: typed shared state + single-writer invariant.</a:t>
            </a:r>
          </a:p>
          <a:p>
            <a:pPr/>
            <a:r>
              <a:rPr sz="2000">
                <a:solidFill>
                  <a:srgbClr val="0B2D5C"/>
                </a:solidFill>
              </a:rPr>
              <a:t>One frozen Pydantic model (PipelineState) is the only inter-agent channel.</a:t>
            </a:r>
          </a:p>
          <a:p>
            <a:pPr/>
            <a:r>
              <a:rPr sz="2000">
                <a:solidFill>
                  <a:srgbClr val="0B2D5C"/>
                </a:solidFill>
              </a:rPr>
              <a:t>FIELD_OWNERS map registers exactly which fields each stage may write.</a:t>
            </a:r>
          </a:p>
          <a:p>
            <a:pPr/>
            <a:r>
              <a:rPr sz="2000">
                <a:solidFill>
                  <a:srgbClr val="0B2D5C"/>
                </a:solidFill>
              </a:rPr>
              <a:t>Orchestrator snapshot-diffs and raises FieldOwnershipViolation on cross-writes.</a:t>
            </a:r>
          </a:p>
          <a:p>
            <a:pPr/>
            <a:r>
              <a:rPr sz="2200" b="1">
                <a:solidFill>
                  <a:srgbClr val="1E5FA6"/>
                </a:solidFill>
              </a:rPr>
              <a:t>Result</a:t>
            </a:r>
          </a:p>
          <a:p>
            <a:pPr/>
            <a:r>
              <a:rPr sz="2000">
                <a:solidFill>
                  <a:srgbClr val="0B2D5C"/>
                </a:solidFill>
              </a:rPr>
              <a:t>34 plans of development, 263 tests — zero invariant leaks reached the merge queue.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B2D5C"/>
                </a:solidFill>
              </a:rPr>
              <a:t>Technology Stack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>
                    <a:solidFill>
                      <a:srgbClr val="0B2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Choice</a:t>
                      </a:r>
                    </a:p>
                  </a:txBody>
                  <a:tcPr>
                    <a:solidFill>
                      <a:srgbClr val="0B2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Rationale</a:t>
                      </a:r>
                    </a:p>
                  </a:txBody>
                  <a:tcPr>
                    <a:solidFill>
                      <a:srgbClr val="0B2D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Gemini 2.5 Flash-Lite (LiteLLM)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Free tier; provider-agnostic via config string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Embeddings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all-MiniLM-L6-v2 (384-dim)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5x faster than mpnet on CPU; 80MB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Vector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FAISS IndexFlatIP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Sub-ms latency at this scale; no tuning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Discovery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Semantic Scholar + arXiv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S2 metadata; arXiv as PDF fallback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PDF parser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PyMuPDF + pymupdf4llm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Section-aware MD output; injection defense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Orchestrator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Custom Python (no LangGraph)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Sequential pipeline avoids MAST failures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Templates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Jinja2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Prompts AND LaTeX; non-coders can iterate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pytest + pytest-socket + respx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263 tests, offline, zero flakes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B2D5C"/>
                </a:solidFill>
              </a:rPr>
              <a:t>Stages 1–2: Query Expansion + Retrieval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1E5FA6"/>
                </a:solidFill>
              </a:rPr>
              <a:t>Query Expansion (1 LLM call)</a:t>
            </a:r>
          </a:p>
          <a:p>
            <a:pPr/>
            <a:r>
              <a:rPr sz="2000">
                <a:solidFill>
                  <a:srgbClr val="0B2D5C"/>
                </a:solidFill>
              </a:rPr>
              <a:t>Natural-language question -&gt; 3-5 diverse search terms via Gemini Flash.</a:t>
            </a:r>
          </a:p>
          <a:p>
            <a:pPr/>
            <a:r>
              <a:rPr sz="2000">
                <a:solidFill>
                  <a:srgbClr val="0B2D5C"/>
                </a:solidFill>
              </a:rPr>
              <a:t>LLM-as-judge topic-drift filter rejects off-topic expansions.</a:t>
            </a:r>
          </a:p>
          <a:p>
            <a:pPr/>
            <a:r>
              <a:rPr sz="2200" b="1">
                <a:solidFill>
                  <a:srgbClr val="1E5FA6"/>
                </a:solidFill>
              </a:rPr>
              <a:t>Retrieval (Semantic Scholar primary, arXiv fallback)</a:t>
            </a:r>
          </a:p>
          <a:p>
            <a:pPr/>
            <a:r>
              <a:rPr sz="2000">
                <a:solidFill>
                  <a:srgbClr val="0B2D5C"/>
                </a:solidFill>
              </a:rPr>
              <a:t>S2 search on each term with tenacity 2/4/8/16s backoff on HTTP 429.</a:t>
            </a:r>
          </a:p>
          <a:p>
            <a:pPr/>
            <a:r>
              <a:rPr sz="2000">
                <a:solidFill>
                  <a:srgbClr val="0B2D5C"/>
                </a:solidFill>
              </a:rPr>
              <a:t>Per-paper fallback chain: openAccessPdf -&gt; arXiv export.arxiv.org -&gt; abstract-only.</a:t>
            </a:r>
          </a:p>
          <a:p>
            <a:pPr/>
            <a:r>
              <a:rPr sz="2000">
                <a:solidFill>
                  <a:srgbClr val="0B2D5C"/>
                </a:solidFill>
              </a:rPr>
              <a:t>Withdrawal detection (comment substring + 10KB tiny-PDF heuristic).</a:t>
            </a:r>
          </a:p>
          <a:p>
            <a:pPr/>
            <a:r>
              <a:rPr sz="2000">
                <a:solidFill>
                  <a:srgbClr val="0B2D5C"/>
                </a:solidFill>
              </a:rPr>
              <a:t>2-second inter-term sleep respects S2's ~1 RPS unauthenticated quota.</a:t>
            </a:r>
          </a:p>
          <a:p>
            <a:pPr/>
            <a:r>
              <a:rPr sz="2200" b="1">
                <a:solidFill>
                  <a:srgbClr val="1E5FA6"/>
                </a:solidFill>
              </a:rPr>
              <a:t>Real failure observed: S2 hard-blocked our IP; arXiv-direct workaround used.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B2D5C"/>
                </a:solidFill>
              </a:rPr>
              <a:t>Stage 3: PDF Extraction + Prompt-Injection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1E5FA6"/>
                </a:solidFill>
              </a:rPr>
              <a:t>PyMuPDF + pymupdf4llm for section-aware Markdown</a:t>
            </a:r>
          </a:p>
          <a:p>
            <a:pPr/>
            <a:r>
              <a:rPr sz="2000">
                <a:solidFill>
                  <a:srgbClr val="0B2D5C"/>
                </a:solidFill>
              </a:rPr>
              <a:t>Preserves headings, paragraph structure, page boundaries.</a:t>
            </a:r>
          </a:p>
          <a:p>
            <a:pPr/>
            <a:r>
              <a:rPr sz="2000">
                <a:solidFill>
                  <a:srgbClr val="0B2D5C"/>
                </a:solidFill>
              </a:rPr>
              <a:t>Tested on 10 multi-publisher PDFs (arXiv, IEEE, ACM, etc.).</a:t>
            </a:r>
          </a:p>
          <a:p>
            <a:pPr/>
            <a:r>
              <a:rPr sz="2200" b="1">
                <a:solidFill>
                  <a:srgbClr val="1E5FA6"/>
                </a:solidFill>
              </a:rPr>
              <a:t>Span-level redaction defense (P15)</a:t>
            </a:r>
          </a:p>
          <a:p>
            <a:pPr/>
            <a:r>
              <a:rPr sz="2000">
                <a:solidFill>
                  <a:srgbClr val="0B2D5C"/>
                </a:solidFill>
              </a:rPr>
              <a:t>White-on-white text (color delta &lt; 0.05) — invisible to humans.</a:t>
            </a:r>
          </a:p>
          <a:p>
            <a:pPr/>
            <a:r>
              <a:rPr sz="2000">
                <a:solidFill>
                  <a:srgbClr val="0B2D5C"/>
                </a:solidFill>
              </a:rPr>
              <a:t>Sub-0.5pt font sizes — invisible at any zoom.</a:t>
            </a:r>
          </a:p>
          <a:p>
            <a:pPr/>
            <a:r>
              <a:rPr sz="2000">
                <a:solidFill>
                  <a:srgbClr val="0B2D5C"/>
                </a:solidFill>
              </a:rPr>
              <a:t>Off-mediabox spans — outside the printable page.</a:t>
            </a:r>
          </a:p>
          <a:p>
            <a:pPr/>
            <a:r>
              <a:rPr sz="2000">
                <a:solidFill>
                  <a:srgbClr val="0B2D5C"/>
                </a:solidFill>
              </a:rPr>
              <a:t>Zero-bbox spans — collapsed to a point.</a:t>
            </a:r>
          </a:p>
          <a:p>
            <a:pPr/>
            <a:r>
              <a:rPr sz="2200" b="1">
                <a:solidFill>
                  <a:srgbClr val="1E5FA6"/>
                </a:solidFill>
              </a:rPr>
              <a:t>Live-run evidence: 23 hidden-text spans stripped, 133 header/footer lines stripped.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B2D5C"/>
                </a:solidFill>
              </a:rPr>
              <a:t>Stage 4: RAG Indexing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1E5FA6"/>
                </a:solidFill>
              </a:rPr>
              <a:t>Section-aware chunking (~500 tokens, 50-token overlap)</a:t>
            </a:r>
          </a:p>
          <a:p>
            <a:pPr/>
            <a:r>
              <a:rPr sz="2000">
                <a:solidFill>
                  <a:srgbClr val="0B2D5C"/>
                </a:solidFill>
              </a:rPr>
              <a:t>Splits at paragraph/section boundaries where detectable.</a:t>
            </a:r>
          </a:p>
          <a:p>
            <a:pPr/>
            <a:r>
              <a:rPr sz="2000">
                <a:solidFill>
                  <a:srgbClr val="0B2D5C"/>
                </a:solidFill>
              </a:rPr>
              <a:t>Falls back to fixed-size with overlap when structure is unclear.</a:t>
            </a:r>
          </a:p>
          <a:p>
            <a:pPr/>
            <a:r>
              <a:rPr sz="2000">
                <a:solidFill>
                  <a:srgbClr val="0B2D5C"/>
                </a:solidFill>
              </a:rPr>
              <a:t>Naive faithfulness 0.47 vs 0.79 with section-awareness (research finding).</a:t>
            </a:r>
          </a:p>
          <a:p>
            <a:pPr/>
            <a:r>
              <a:rPr sz="2200" b="1">
                <a:solidFill>
                  <a:srgbClr val="1E5FA6"/>
                </a:solidFill>
              </a:rPr>
              <a:t>Dense embedding</a:t>
            </a:r>
          </a:p>
          <a:p>
            <a:pPr/>
            <a:r>
              <a:rPr sz="2000">
                <a:solidFill>
                  <a:srgbClr val="0B2D5C"/>
                </a:solidFill>
              </a:rPr>
              <a:t>sentence-transformers all-MiniLM-L6-v2 (384-dim, CPU, normalize=True).</a:t>
            </a:r>
          </a:p>
          <a:p>
            <a:pPr/>
            <a:r>
              <a:rPr sz="2000">
                <a:solidFill>
                  <a:srgbClr val="0B2D5C"/>
                </a:solidFill>
              </a:rPr>
              <a:t>Chunks deduplicated by chunk_hash before indexing.</a:t>
            </a:r>
          </a:p>
          <a:p>
            <a:pPr/>
            <a:r>
              <a:rPr sz="2200" b="1">
                <a:solidFill>
                  <a:srgbClr val="1E5FA6"/>
                </a:solidFill>
              </a:rPr>
              <a:t>FAISS IndexFlatIP on normalized embeddings</a:t>
            </a:r>
          </a:p>
          <a:p>
            <a:pPr/>
            <a:r>
              <a:rPr sz="2000">
                <a:solidFill>
                  <a:srgbClr val="0B2D5C"/>
                </a:solidFill>
              </a:rPr>
              <a:t>Inner product on L2-normalized vectors == cosine similarity.</a:t>
            </a:r>
          </a:p>
          <a:p>
            <a:pPr/>
            <a:r>
              <a:rPr sz="2000">
                <a:solidFill>
                  <a:srgbClr val="0B2D5C"/>
                </a:solidFill>
              </a:rPr>
              <a:t>Persisted as faiss.index + chunks.json sidecar.</a:t>
            </a:r>
          </a:p>
          <a:p>
            <a:pPr/>
            <a:r>
              <a:rPr sz="2200" b="1">
                <a:solidFill>
                  <a:srgbClr val="1E5FA6"/>
                </a:solidFill>
              </a:rPr>
              <a:t>Live run: 657 chunks across 10 papers (range 19–159 per paper).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B2D5C"/>
                </a:solidFill>
              </a:rPr>
              <a:t>Hierarchical RAG Analysis (4N+2 LLM Calls)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7863840" cy="1828800"/>
          </a:xfrm>
          <a:prstGeom prst="roundRect">
            <a:avLst/>
          </a:prstGeom>
          <a:solidFill>
            <a:srgbClr val="CEE0F2"/>
          </a:solidFill>
          <a:ln>
            <a:solidFill>
              <a:srgbClr val="0B2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0B2D5C"/>
                </a:solidFill>
              </a:rPr>
              <a:t>Per-paper layer  (4 calls × N papers)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1965960"/>
            <a:ext cx="173736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0B2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b="1" sz="1300">
                <a:solidFill>
                  <a:srgbClr val="0B2D5C"/>
                </a:solidFill>
              </a:rPr>
              <a:t>Summary</a:t>
            </a:r>
          </a:p>
          <a:p>
            <a:r>
              <a:rPr sz="1000">
                <a:solidFill>
                  <a:srgbClr val="555555"/>
                </a:solidFill>
              </a:rPr>
              <a:t>objective +</a:t>
            </a:r>
            <a:br/>
            <a:r>
              <a:rPr sz="1000">
                <a:solidFill>
                  <a:srgbClr val="555555"/>
                </a:solidFill>
              </a:rPr>
              <a:t>findings +</a:t>
            </a:r>
            <a:br/>
            <a:r>
              <a:rPr sz="1000">
                <a:solidFill>
                  <a:srgbClr val="555555"/>
                </a:solidFill>
              </a:rPr>
              <a:t>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88920" y="1965960"/>
            <a:ext cx="173736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0B2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b="1" sz="1300">
                <a:solidFill>
                  <a:srgbClr val="0B2D5C"/>
                </a:solidFill>
              </a:rPr>
              <a:t>Methodology</a:t>
            </a:r>
          </a:p>
          <a:p>
            <a:r>
              <a:rPr sz="1000">
                <a:solidFill>
                  <a:srgbClr val="555555"/>
                </a:solidFill>
              </a:rPr>
              <a:t>datasets +</a:t>
            </a:r>
            <a:br/>
            <a:r>
              <a:rPr sz="1000">
                <a:solidFill>
                  <a:srgbClr val="555555"/>
                </a:solidFill>
              </a:rPr>
              <a:t>techniques +</a:t>
            </a:r>
            <a:br/>
            <a:r>
              <a:rPr sz="1000">
                <a:solidFill>
                  <a:srgbClr val="555555"/>
                </a:solidFill>
              </a:rPr>
              <a:t>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4617720" y="1965960"/>
            <a:ext cx="173736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0B2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b="1" sz="1300">
                <a:solidFill>
                  <a:srgbClr val="0B2D5C"/>
                </a:solidFill>
              </a:rPr>
              <a:t>Limitations</a:t>
            </a:r>
          </a:p>
          <a:p>
            <a:r>
              <a:rPr sz="1000">
                <a:solidFill>
                  <a:srgbClr val="555555"/>
                </a:solidFill>
              </a:rPr>
              <a:t>limits +</a:t>
            </a:r>
            <a:br/>
            <a:r>
              <a:rPr sz="1000">
                <a:solidFill>
                  <a:srgbClr val="555555"/>
                </a:solidFill>
              </a:rPr>
              <a:t>future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6520" y="1965960"/>
            <a:ext cx="173736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0B2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b="1" sz="1300">
                <a:solidFill>
                  <a:srgbClr val="0B2D5C"/>
                </a:solidFill>
              </a:rPr>
              <a:t>Verifier</a:t>
            </a:r>
          </a:p>
          <a:p>
            <a:r>
              <a:rPr sz="1000">
                <a:solidFill>
                  <a:srgbClr val="555555"/>
                </a:solidFill>
              </a:rPr>
              <a:t>fact-check</a:t>
            </a:r>
            <a:br/>
            <a:r>
              <a:rPr sz="1000">
                <a:solidFill>
                  <a:srgbClr val="555555"/>
                </a:solidFill>
              </a:rPr>
              <a:t>claims vs</a:t>
            </a:r>
            <a:br/>
            <a:r>
              <a:rPr sz="1000">
                <a:solidFill>
                  <a:srgbClr val="555555"/>
                </a:solidFill>
              </a:rPr>
              <a:t>passages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66160"/>
            <a:ext cx="7863840" cy="1463040"/>
          </a:xfrm>
          <a:prstGeom prst="roundRect">
            <a:avLst/>
          </a:prstGeom>
          <a:solidFill>
            <a:srgbClr val="EEEEE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0B2D5C"/>
                </a:solidFill>
              </a:rPr>
              <a:t>Cross-paper layer  (2 calls, runs once)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114800"/>
            <a:ext cx="36576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0B2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0B2D5C"/>
                </a:solidFill>
              </a:rPr>
              <a:t>Methodology Matrix</a:t>
            </a:r>
          </a:p>
          <a:p>
            <a:r>
              <a:rPr sz="1000">
                <a:solidFill>
                  <a:srgbClr val="555555"/>
                </a:solidFill>
              </a:rPr>
              <a:t>rows = papers, cols = datasets/techniques/metrics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4114800"/>
            <a:ext cx="36576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0B2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0B2D5C"/>
                </a:solidFill>
              </a:rPr>
              <a:t>Gap Analysis</a:t>
            </a:r>
          </a:p>
          <a:p>
            <a:r>
              <a:rPr sz="1000">
                <a:solidFill>
                  <a:srgbClr val="555555"/>
                </a:solidFill>
              </a:rPr>
              <a:t>synthesizes per-paper limitations into research gaps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52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555555"/>
                </a:solidFill>
              </a:rPr>
              <a:t>Mitigates Belem 2025's up-to-75% multi-doc hallucination rate. For our 10-paper run: 28 per-paper + 2 cross-paper + 8 verifier = 38 calls.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B2D5C"/>
                </a:solidFill>
              </a:rPr>
              <a:t>Stage 5: Per-Claim Citations + Post-Hoc Verifier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1E5FA6"/>
                </a:solidFill>
              </a:rPr>
              <a:t>Citation format: [P&lt;paper_id&gt;-N]</a:t>
            </a:r>
          </a:p>
          <a:p>
            <a:pPr/>
            <a:r>
              <a:rPr sz="2000">
                <a:solidFill>
                  <a:srgbClr val="0B2D5C"/>
                </a:solidFill>
              </a:rPr>
              <a:t>Pinning paper_id inside every citation marker resists attribution drift.</a:t>
            </a:r>
          </a:p>
          <a:p>
            <a:pPr/>
            <a:r>
              <a:rPr sz="2000">
                <a:solidFill>
                  <a:srgbClr val="0B2D5C"/>
                </a:solidFill>
              </a:rPr>
              <a:t>Strict regex enforced by Pydantic field_validator on Claim.citations.</a:t>
            </a:r>
          </a:p>
          <a:p>
            <a:pPr/>
            <a:r>
              <a:rPr sz="2200" b="1">
                <a:solidFill>
                  <a:srgbClr val="1E5FA6"/>
                </a:solidFill>
              </a:rPr>
              <a:t>Schema-strict JSON output (extra='forbid')</a:t>
            </a:r>
          </a:p>
          <a:p>
            <a:pPr/>
            <a:r>
              <a:rPr sz="2000">
                <a:solidFill>
                  <a:srgbClr val="0B2D5C"/>
                </a:solidFill>
              </a:rPr>
              <a:t>Each prompt's output is validated against a Pydantic schema.</a:t>
            </a:r>
          </a:p>
          <a:p>
            <a:pPr/>
            <a:r>
              <a:rPr sz="2000">
                <a:solidFill>
                  <a:srgbClr val="0B2D5C"/>
                </a:solidFill>
              </a:rPr>
              <a:t>Mismatches raise ValidationError, caught per-paper by ANL-09 try/except.</a:t>
            </a:r>
          </a:p>
          <a:p>
            <a:pPr/>
            <a:r>
              <a:rPr sz="2200" b="1">
                <a:solidFill>
                  <a:srgbClr val="1E5FA6"/>
                </a:solidFill>
              </a:rPr>
              <a:t>Verifier — separate LLM call per paper at temperature 0</a:t>
            </a:r>
          </a:p>
          <a:p>
            <a:pPr/>
            <a:r>
              <a:rPr sz="2000">
                <a:solidFill>
                  <a:srgbClr val="0B2D5C"/>
                </a:solidFill>
              </a:rPr>
              <a:t>Re-checks each generated claim against its cited passage.</a:t>
            </a:r>
          </a:p>
          <a:p>
            <a:pPr/>
            <a:r>
              <a:rPr sz="2000">
                <a:solidFill>
                  <a:srgbClr val="0B2D5C"/>
                </a:solidFill>
              </a:rPr>
              <a:t>'unsupported' verdicts get [UNVERIFIED] tag prefix in final report.</a:t>
            </a:r>
          </a:p>
          <a:p>
            <a:pPr/>
            <a:r>
              <a:rPr sz="2200" b="1">
                <a:solidFill>
                  <a:srgbClr val="1E5FA6"/>
                </a:solidFill>
              </a:rPr>
              <a:t>Live result: 0 unsupported across 8 verifier calls (100% grounded).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B2D5C"/>
                </a:solidFill>
              </a:rPr>
              <a:t>Stage 6: LaTeX Report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1E5FA6"/>
                </a:solidFill>
              </a:rPr>
              <a:t>Jinja2 with custom delimiters</a:t>
            </a:r>
          </a:p>
          <a:p>
            <a:pPr/>
            <a:r>
              <a:rPr sz="2000">
                <a:solidFill>
                  <a:srgbClr val="0B2D5C"/>
                </a:solidFill>
              </a:rPr>
              <a:t>&lt;% %&gt; for blocks and &lt;&lt; &gt;&gt; for variables (LaTeX uses {} natively).</a:t>
            </a:r>
          </a:p>
          <a:p>
            <a:pPr/>
            <a:r>
              <a:rPr sz="2000">
                <a:solidFill>
                  <a:srgbClr val="0B2D5C"/>
                </a:solidFill>
              </a:rPr>
              <a:t>latex_escape filter (backslash-first) for safe substitution.</a:t>
            </a:r>
          </a:p>
          <a:p>
            <a:pPr/>
            <a:r>
              <a:rPr sz="2200" b="1">
                <a:solidFill>
                  <a:srgbClr val="1E5FA6"/>
                </a:solidFill>
              </a:rPr>
              <a:t>BibTeX key collision resolver</a:t>
            </a:r>
          </a:p>
          <a:p>
            <a:pPr/>
            <a:r>
              <a:rPr sz="2000">
                <a:solidFill>
                  <a:srgbClr val="0B2D5C"/>
                </a:solidFill>
              </a:rPr>
              <a:t>&lt;author&gt;_&lt;year&gt;_&lt;first_word&gt;; on collision, suffix _2, _3, ...</a:t>
            </a:r>
          </a:p>
          <a:p>
            <a:pPr/>
            <a:r>
              <a:rPr sz="2000">
                <a:solidFill>
                  <a:srgbClr val="0B2D5C"/>
                </a:solidFill>
              </a:rPr>
              <a:t>Stable, deterministic ordering — same corpus -&gt; same keys.</a:t>
            </a:r>
          </a:p>
          <a:p>
            <a:pPr/>
            <a:r>
              <a:rPr sz="2200" b="1">
                <a:solidFill>
                  <a:srgbClr val="1E5FA6"/>
                </a:solidFill>
              </a:rPr>
              <a:t>latexmk compile gate + [?] scan</a:t>
            </a:r>
          </a:p>
          <a:p>
            <a:pPr/>
            <a:r>
              <a:rPr sz="2000">
                <a:solidFill>
                  <a:srgbClr val="0B2D5C"/>
                </a:solidFill>
              </a:rPr>
              <a:t>@pytest.mark.latex marker skips on machines without TeX toolchain.</a:t>
            </a:r>
          </a:p>
          <a:p>
            <a:pPr/>
            <a:r>
              <a:rPr sz="2000">
                <a:solidFill>
                  <a:srgbClr val="0B2D5C"/>
                </a:solidFill>
              </a:rPr>
              <a:t>[?] scan catches unresolved citations after BibTeX runs.</a:t>
            </a:r>
          </a:p>
          <a:p>
            <a:pPr/>
            <a:r>
              <a:rPr sz="2200" b="1">
                <a:solidFill>
                  <a:srgbClr val="1E5FA6"/>
                </a:solidFill>
              </a:rPr>
              <a:t>Live result: 24.9 KB report.tex, 8 BibTeX keys, 0 collisions, 0 unresolved.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B2D5C"/>
                </a:solidFill>
              </a:rPr>
              <a:t>Live Run Results — 2026-04-28 (10 RAG papers)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>
                    <a:solidFill>
                      <a:srgbClr val="0B2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Measured Outcome</a:t>
                      </a:r>
                    </a:p>
                  </a:txBody>
                  <a:tcPr>
                    <a:solidFill>
                      <a:srgbClr val="0B2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Wall Clock</a:t>
                      </a:r>
                    </a:p>
                  </a:txBody>
                  <a:tcPr>
                    <a:solidFill>
                      <a:srgbClr val="0B2D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Query expansion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3 search terms (1 Gemini call)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~5s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Retrieval (arXiv)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10/10 papers, 10 PDFs (20.0 MB)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18.4s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Extraction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10/10 OK, 23 hidden spans stripped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40.4s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Indexing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657 chunks (range 19–159/paper)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8.8s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8/10 papers OK, 38 LLM calls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99.7s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24.9 KB .tex, 8 BibTeX keys, 0 collisions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0.02s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39 LLM calls, ~$0.03 on Tier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168s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B2D5C"/>
                </a:solidFill>
              </a:rPr>
              <a:t>Evaluation: Retrieval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1E5FA6"/>
                </a:solidFill>
              </a:rPr>
              <a:t>Method: 5-query retrieval set, top-k = 5 each</a:t>
            </a:r>
          </a:p>
          <a:p>
            <a:pPr/>
            <a:r>
              <a:rPr sz="2000">
                <a:solidFill>
                  <a:srgbClr val="0B2D5C"/>
                </a:solidFill>
              </a:rPr>
              <a:t>Queries span main topic, methodology, limitations, future work, multi-hop.</a:t>
            </a:r>
          </a:p>
          <a:p>
            <a:pPr/>
            <a:r>
              <a:rPr sz="2200" b="1">
                <a:solidFill>
                  <a:srgbClr val="1E5FA6"/>
                </a:solidFill>
              </a:rPr>
              <a:t>Measured FAISS inner-product scores (L2-normalized vectors)</a:t>
            </a:r>
          </a:p>
          <a:p>
            <a:pPr/>
            <a:r>
              <a:rPr sz="2000">
                <a:solidFill>
                  <a:srgbClr val="0B2D5C"/>
                </a:solidFill>
              </a:rPr>
              <a:t>Range: 0.432 — 0.682</a:t>
            </a:r>
          </a:p>
          <a:p>
            <a:pPr/>
            <a:r>
              <a:rPr sz="2000">
                <a:solidFill>
                  <a:srgbClr val="0B2D5C"/>
                </a:solidFill>
              </a:rPr>
              <a:t>Mean: 0.603 across 25 returned chunks</a:t>
            </a:r>
          </a:p>
          <a:p>
            <a:pPr/>
            <a:r>
              <a:rPr sz="2000">
                <a:solidFill>
                  <a:srgbClr val="0B2D5C"/>
                </a:solidFill>
              </a:rPr>
              <a:t>Comfortably above MiniLM's 0.30–0.40 noise floor on unrelated text.</a:t>
            </a:r>
          </a:p>
          <a:p>
            <a:pPr/>
            <a:r>
              <a:rPr sz="2200" b="1">
                <a:solidFill>
                  <a:srgbClr val="1E5FA6"/>
                </a:solidFill>
              </a:rPr>
              <a:t>Validates the IndexFlatIP + normalize_embeddings choice</a:t>
            </a:r>
          </a:p>
          <a:p>
            <a:pPr/>
            <a:r>
              <a:rPr sz="2000">
                <a:solidFill>
                  <a:srgbClr val="0B2D5C"/>
                </a:solidFill>
              </a:rPr>
              <a:t>Inner product on L2-normalized == cosine similarity (mathematically).</a:t>
            </a:r>
          </a:p>
          <a:p>
            <a:pPr/>
            <a:r>
              <a:rPr sz="2000">
                <a:solidFill>
                  <a:srgbClr val="0B2D5C"/>
                </a:solidFill>
              </a:rPr>
              <a:t>Sub-millisecond search latency at this corpus size.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B2D5C"/>
                </a:solidFill>
              </a:rPr>
              <a:t>Evaluation: Grounding &amp; Observed 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1E5FA6"/>
                </a:solidFill>
              </a:rPr>
              <a:t>Grounding (live-run measured)</a:t>
            </a:r>
          </a:p>
          <a:p>
            <a:pPr/>
            <a:r>
              <a:rPr sz="2000">
                <a:solidFill>
                  <a:srgbClr val="0B2D5C"/>
                </a:solidFill>
              </a:rPr>
              <a:t>0 unsupported verdicts across 8 verifier calls (100% supported).</a:t>
            </a:r>
          </a:p>
          <a:p>
            <a:pPr/>
            <a:r>
              <a:rPr sz="2000">
                <a:solidFill>
                  <a:srgbClr val="0B2D5C"/>
                </a:solidFill>
              </a:rPr>
              <a:t>Stronger than prior fixture-corpus rates; consistent with strict prompt + schema-pinned JSON.</a:t>
            </a:r>
          </a:p>
          <a:p>
            <a:pPr/>
            <a:r>
              <a:rPr sz="2200" b="1">
                <a:solidFill>
                  <a:srgbClr val="1E5FA6"/>
                </a:solidFill>
              </a:rPr>
              <a:t>Failure mode 1: Per-paper analysis citation drift  (20% rate)</a:t>
            </a:r>
          </a:p>
          <a:p>
            <a:pPr/>
            <a:r>
              <a:rPr sz="2000">
                <a:solidFill>
                  <a:srgbClr val="0B2D5C"/>
                </a:solidFill>
              </a:rPr>
              <a:t>2/10 papers failed: malformed citation format, empty citations list.</a:t>
            </a:r>
          </a:p>
          <a:p>
            <a:pPr/>
            <a:r>
              <a:rPr sz="2000">
                <a:solidFill>
                  <a:srgbClr val="0B2D5C"/>
                </a:solidFill>
              </a:rPr>
              <a:t>Per-paper isolation kept stage healthy; remaining 8 papers analyzed cleanly.</a:t>
            </a:r>
          </a:p>
          <a:p>
            <a:pPr/>
            <a:r>
              <a:rPr sz="2200" b="1">
                <a:solidFill>
                  <a:srgbClr val="1E5FA6"/>
                </a:solidFill>
              </a:rPr>
              <a:t>Failure mode 2: Semantic Scholar IP rate-limiting</a:t>
            </a:r>
          </a:p>
          <a:p>
            <a:pPr/>
            <a:r>
              <a:rPr sz="2000">
                <a:solidFill>
                  <a:srgbClr val="0B2D5C"/>
                </a:solidFill>
              </a:rPr>
              <a:t>Sticky 429s for hours; arXiv-direct fallback produced usable corpus.</a:t>
            </a:r>
          </a:p>
          <a:p>
            <a:pPr/>
            <a:r>
              <a:rPr sz="2200" b="1">
                <a:solidFill>
                  <a:srgbClr val="1E5FA6"/>
                </a:solidFill>
              </a:rPr>
              <a:t>Failure mode 3: BibTeX key collisions — did not occur</a:t>
            </a:r>
          </a:p>
          <a:p>
            <a:pPr/>
            <a:r>
              <a:rPr sz="2000">
                <a:solidFill>
                  <a:srgbClr val="0B2D5C"/>
                </a:solidFill>
              </a:rPr>
              <a:t>0 collisions on this corpus; resolver still essential for unpredictable corpora.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B2D5C"/>
                </a:solidFill>
              </a:rPr>
              <a:t>Key Engineering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1E5FA6"/>
                </a:solidFill>
              </a:rPr>
              <a:t>Test-driven development per plan</a:t>
            </a:r>
          </a:p>
          <a:p>
            <a:pPr/>
            <a:r>
              <a:rPr sz="2000">
                <a:solidFill>
                  <a:srgbClr val="0B2D5C"/>
                </a:solidFill>
              </a:rPr>
              <a:t>RED -&gt; GREEN -&gt; metadata commit cadence; every PR ships green.</a:t>
            </a:r>
          </a:p>
          <a:p>
            <a:pPr/>
            <a:r>
              <a:rPr sz="2000">
                <a:solidFill>
                  <a:srgbClr val="0B2D5C"/>
                </a:solidFill>
              </a:rPr>
              <a:t>263 tests passing (offline, deterministic, 0 flakes).</a:t>
            </a:r>
          </a:p>
          <a:p>
            <a:pPr/>
            <a:r>
              <a:rPr sz="2200" b="1">
                <a:solidFill>
                  <a:srgbClr val="1E5FA6"/>
                </a:solidFill>
              </a:rPr>
              <a:t>Offline-first test suite</a:t>
            </a:r>
          </a:p>
          <a:p>
            <a:pPr/>
            <a:r>
              <a:rPr sz="2000">
                <a:solidFill>
                  <a:srgbClr val="0B2D5C"/>
                </a:solidFill>
              </a:rPr>
              <a:t>pytest-socket disables network globally.</a:t>
            </a:r>
          </a:p>
          <a:p>
            <a:pPr/>
            <a:r>
              <a:rPr sz="2000">
                <a:solidFill>
                  <a:srgbClr val="0B2D5C"/>
                </a:solidFill>
              </a:rPr>
              <a:t>FakeLLM keys responses by sha256(prompt)[:16] — catches prompt drift loudly.</a:t>
            </a:r>
          </a:p>
          <a:p>
            <a:pPr/>
            <a:r>
              <a:rPr sz="2200" b="1">
                <a:solidFill>
                  <a:srgbClr val="1E5FA6"/>
                </a:solidFill>
              </a:rPr>
              <a:t>Idempotent stages</a:t>
            </a:r>
          </a:p>
          <a:p>
            <a:pPr/>
            <a:r>
              <a:rPr sz="2000">
                <a:solidFill>
                  <a:srgbClr val="0B2D5C"/>
                </a:solidFill>
              </a:rPr>
              <a:t>Each stage skips if its output artifact exists; delete-to-invalidate.</a:t>
            </a:r>
          </a:p>
          <a:p>
            <a:pPr/>
            <a:r>
              <a:rPr sz="2000">
                <a:solidFill>
                  <a:srgbClr val="0B2D5C"/>
                </a:solidFill>
              </a:rPr>
              <a:t>Critical for iterative dev + API quota preservation.</a:t>
            </a:r>
          </a:p>
          <a:p>
            <a:pPr/>
            <a:r>
              <a:rPr sz="2200" b="1">
                <a:solidFill>
                  <a:srgbClr val="1E5FA6"/>
                </a:solidFill>
              </a:rPr>
              <a:t>Reproducible offline demo</a:t>
            </a:r>
          </a:p>
          <a:p>
            <a:pPr/>
            <a:r>
              <a:rPr sz="2000">
                <a:solidFill>
                  <a:srgbClr val="0B2D5C"/>
                </a:solidFill>
              </a:rPr>
              <a:t>8.4 KB demo-cache.tar.gz committed; ara run --cached-only completes in 4 seconds.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B2D5C"/>
                </a:solidFill>
              </a:rPr>
              <a:t>Lessons Learned (5 Surprises)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1E5FA6"/>
                </a:solidFill>
              </a:rPr>
              <a:t>1. latexmk gate disrupted CI — fix: graceful skip via @pytest.mark.latex.</a:t>
            </a:r>
          </a:p>
          <a:p>
            <a:pPr/>
            <a:r>
              <a:rPr sz="2200" b="1">
                <a:solidFill>
                  <a:srgbClr val="1E5FA6"/>
                </a:solidFill>
              </a:rPr>
              <a:t>2. FakeLLM prompt-hash fragility — fix: recording FakeLLM auto-regenerates fixtures.</a:t>
            </a:r>
          </a:p>
          <a:p>
            <a:pPr/>
            <a:r>
              <a:rPr sz="2200" b="1">
                <a:solidFill>
                  <a:srgbClr val="1E5FA6"/>
                </a:solidFill>
              </a:rPr>
              <a:t>3. Gemini free tier is 20 RPD per model (not 500) — needed Tier 1 billing for live run.</a:t>
            </a:r>
          </a:p>
          <a:p>
            <a:pPr/>
            <a:r>
              <a:rPr sz="2200" b="1">
                <a:solidFill>
                  <a:srgbClr val="1E5FA6"/>
                </a:solidFill>
              </a:rPr>
              <a:t>4. gemini-3-flash-preview burns 14K hidden 'thinking' tokens — switched to flash-lite.</a:t>
            </a:r>
          </a:p>
          <a:p>
            <a:pPr/>
            <a:r>
              <a:rPr sz="2200" b="1">
                <a:solidFill>
                  <a:srgbClr val="1E5FA6"/>
                </a:solidFill>
              </a:rPr>
              <a:t>5. 20% per-paper analysis failure rate from citation-format drift</a:t>
            </a:r>
          </a:p>
          <a:p>
            <a:pPr lvl="1"/>
            <a:r>
              <a:rPr sz="1600">
                <a:solidFill>
                  <a:srgbClr val="555555"/>
                </a:solidFill>
              </a:rPr>
              <a:t>Strict schema validation + per-paper isolation made this a non-event for the stage.</a:t>
            </a:r>
          </a:p>
          <a:p>
            <a:pPr lvl="1"/>
            <a:r>
              <a:rPr sz="1600">
                <a:solidFill>
                  <a:srgbClr val="555555"/>
                </a:solidFill>
              </a:rPr>
              <a:t>Real-world tradeoff: strictness vs robustness, both well-handled by the design.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B2D5C"/>
                </a:solidFill>
              </a:rPr>
              <a:t>Future Work (v2 Roadmap)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1E5FA6"/>
                </a:solidFill>
              </a:rPr>
              <a:t>Already deferred &amp; tracked</a:t>
            </a:r>
          </a:p>
          <a:p>
            <a:pPr/>
            <a:r>
              <a:rPr sz="2000">
                <a:solidFill>
                  <a:srgbClr val="0B2D5C"/>
                </a:solidFill>
              </a:rPr>
              <a:t>HyDE query transformation (ADV-03) — addresses query-document asymmetry.</a:t>
            </a:r>
          </a:p>
          <a:p>
            <a:pPr/>
            <a:r>
              <a:rPr sz="2000">
                <a:solidFill>
                  <a:srgbClr val="0B2D5C"/>
                </a:solidFill>
              </a:rPr>
              <a:t>Citation-graph snowballing (ADV-01) — widen corpus from initial seed.</a:t>
            </a:r>
          </a:p>
          <a:p>
            <a:pPr/>
            <a:r>
              <a:rPr sz="2000">
                <a:solidFill>
                  <a:srgbClr val="0B2D5C"/>
                </a:solidFill>
              </a:rPr>
              <a:t>Unpaywall integration (ADV-02) — third PDF source beyond S2/arXiv.</a:t>
            </a:r>
          </a:p>
          <a:p>
            <a:pPr/>
            <a:r>
              <a:rPr sz="2000">
                <a:solidFill>
                  <a:srgbClr val="0B2D5C"/>
                </a:solidFill>
              </a:rPr>
              <a:t>multi-qa-MiniLM-L6-cos-v1 embedding swap (ADV-04).</a:t>
            </a:r>
          </a:p>
          <a:p>
            <a:pPr/>
            <a:r>
              <a:rPr sz="2000">
                <a:solidFill>
                  <a:srgbClr val="0B2D5C"/>
                </a:solidFill>
              </a:rPr>
              <a:t>Multilingual paper support (ADV-07).</a:t>
            </a:r>
          </a:p>
          <a:p>
            <a:pPr/>
            <a:r>
              <a:rPr sz="2200" b="1">
                <a:solidFill>
                  <a:srgbClr val="1E5FA6"/>
                </a:solidFill>
              </a:rPr>
              <a:t>Pragmatic next moves</a:t>
            </a:r>
          </a:p>
          <a:p>
            <a:pPr/>
            <a:r>
              <a:rPr sz="2000">
                <a:solidFill>
                  <a:srgbClr val="0B2D5C"/>
                </a:solidFill>
              </a:rPr>
              <a:t>Get an S2 API key (1 RPS sustained, no IP-block sensitivity).</a:t>
            </a:r>
          </a:p>
          <a:p>
            <a:pPr/>
            <a:r>
              <a:rPr sz="2000">
                <a:solidFill>
                  <a:srgbClr val="0B2D5C"/>
                </a:solidFill>
              </a:rPr>
              <a:t>Loosen citation regex to accept stripped-bracket fallback (recover the 20% failures).</a:t>
            </a:r>
          </a:p>
          <a:p>
            <a:pPr/>
            <a:r>
              <a:rPr sz="2000">
                <a:solidFill>
                  <a:srgbClr val="0B2D5C"/>
                </a:solidFill>
              </a:rPr>
              <a:t>Pre-bake report.pdf into demo-cache.tar.gz on a latexmk-equipped machine.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B2D5C"/>
                </a:solidFill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1E5FA6"/>
                </a:solidFill>
              </a:rPr>
              <a:t>Three tiers — combine for safety</a:t>
            </a:r>
          </a:p>
          <a:p>
            <a:pPr/>
            <a:r>
              <a:rPr sz="2200" b="1">
                <a:solidFill>
                  <a:srgbClr val="1E5FA6"/>
                </a:solidFill>
              </a:rPr>
              <a:t>1. Offline (--cached-only) — 4 seconds, zero network, bulletproof.</a:t>
            </a:r>
          </a:p>
          <a:p>
            <a:pPr/>
            <a:r>
              <a:rPr sz="2200" b="1">
                <a:solidFill>
                  <a:srgbClr val="1E5FA6"/>
                </a:solidFill>
              </a:rPr>
              <a:t>2. Live with prof's question — 2-3 min on 10-paper corpus.</a:t>
            </a:r>
          </a:p>
          <a:p>
            <a:pPr/>
            <a:r>
              <a:rPr sz="2200" b="1">
                <a:solidFill>
                  <a:srgbClr val="1E5FA6"/>
                </a:solidFill>
              </a:rPr>
              <a:t>3. Show prior live-run artifacts — state.json + auto-generated report.tex.</a:t>
            </a:r>
          </a:p>
          <a:p>
            <a:pPr/>
            <a:r>
              <a:rPr sz="2200" b="1">
                <a:solidFill>
                  <a:srgbClr val="1E5FA6"/>
                </a:solidFill>
              </a:rPr>
              <a:t>What you'll see in stage logs</a:t>
            </a:r>
          </a:p>
          <a:p>
            <a:pPr/>
            <a:r>
              <a:rPr sz="2000">
                <a:solidFill>
                  <a:srgbClr val="0B2D5C"/>
                </a:solidFill>
              </a:rPr>
              <a:t>stage_start: query -&gt; Gemini expansion</a:t>
            </a:r>
          </a:p>
          <a:p>
            <a:pPr/>
            <a:r>
              <a:rPr sz="2000">
                <a:solidFill>
                  <a:srgbClr val="0B2D5C"/>
                </a:solidFill>
              </a:rPr>
              <a:t>stage_start: retrieval -&gt; arXiv search + PDF downloads</a:t>
            </a:r>
          </a:p>
          <a:p>
            <a:pPr/>
            <a:r>
              <a:rPr sz="2000">
                <a:solidFill>
                  <a:srgbClr val="0B2D5C"/>
                </a:solidFill>
              </a:rPr>
              <a:t>stage_start: extraction -&gt; PyMuPDF + injection defense firing</a:t>
            </a:r>
          </a:p>
          <a:p>
            <a:pPr/>
            <a:r>
              <a:rPr sz="2000">
                <a:solidFill>
                  <a:srgbClr val="0B2D5C"/>
                </a:solidFill>
              </a:rPr>
              <a:t>stage_start: indexing -&gt; 384-dim embeddings + FAISS</a:t>
            </a:r>
          </a:p>
          <a:p>
            <a:pPr/>
            <a:r>
              <a:rPr sz="2000">
                <a:solidFill>
                  <a:srgbClr val="0B2D5C"/>
                </a:solidFill>
              </a:rPr>
              <a:t>stage_start: analysis -&gt; 4N+2 hierarchical LLM calls</a:t>
            </a:r>
          </a:p>
          <a:p>
            <a:pPr/>
            <a:r>
              <a:rPr sz="2000">
                <a:solidFill>
                  <a:srgbClr val="0B2D5C"/>
                </a:solidFill>
              </a:rPr>
              <a:t>stage_start: report -&gt; LaTeX assembly + BibTeX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B2D5C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1E5FA6"/>
                </a:solidFill>
              </a:rPr>
              <a:t>Questions?</a:t>
            </a:r>
          </a:p>
          <a:p>
            <a:pPr/>
            <a:r>
              <a:rPr sz="2200" b="1">
                <a:solidFill>
                  <a:srgbClr val="1E5FA6"/>
                </a:solidFill>
              </a:rPr>
              <a:t>Project resources</a:t>
            </a:r>
          </a:p>
          <a:p>
            <a:pPr/>
            <a:r>
              <a:rPr sz="2000">
                <a:solidFill>
                  <a:srgbClr val="0B2D5C"/>
                </a:solidFill>
              </a:rPr>
              <a:t>Repository: github.com/&lt;your-account&gt;/&lt;repo&gt;  (replace before demo)</a:t>
            </a:r>
          </a:p>
          <a:p>
            <a:pPr/>
            <a:r>
              <a:rPr sz="2000">
                <a:solidFill>
                  <a:srgbClr val="0B2D5C"/>
                </a:solidFill>
              </a:rPr>
              <a:t>IE624 report.tex: in repo root, contains all measured numbers.</a:t>
            </a:r>
          </a:p>
          <a:p>
            <a:pPr/>
            <a:r>
              <a:rPr sz="2000">
                <a:solidFill>
                  <a:srgbClr val="0B2D5C"/>
                </a:solidFill>
              </a:rPr>
              <a:t>Live-run artifacts: runs/20260427-173618-how-does-retrieval-augmented-generation/</a:t>
            </a:r>
          </a:p>
          <a:p>
            <a:pPr/>
            <a:r>
              <a:rPr sz="2000">
                <a:solidFill>
                  <a:srgbClr val="0B2D5C"/>
                </a:solidFill>
              </a:rPr>
              <a:t>Tests: uv run pytest -q  (263 passed, 9 latex-skipped)</a:t>
            </a:r>
          </a:p>
          <a:p>
            <a:pPr/>
            <a:r>
              <a:rPr sz="2200" b="1">
                <a:solidFill>
                  <a:srgbClr val="1E5FA6"/>
                </a:solidFill>
              </a:rPr>
              <a:t>Team</a:t>
            </a:r>
          </a:p>
          <a:p>
            <a:pPr/>
            <a:r>
              <a:rPr sz="2000">
                <a:solidFill>
                  <a:srgbClr val="0B2D5C"/>
                </a:solidFill>
              </a:rPr>
              <a:t>Souparna Bhowmik (25D1386)</a:t>
            </a:r>
          </a:p>
          <a:p>
            <a:pPr/>
            <a:r>
              <a:rPr sz="2000">
                <a:solidFill>
                  <a:srgbClr val="0B2D5C"/>
                </a:solidFill>
              </a:rPr>
              <a:t>Damor Jaydipkumar (22B4221)</a:t>
            </a:r>
          </a:p>
          <a:p>
            <a:pPr/>
            <a:r>
              <a:rPr sz="2000">
                <a:solidFill>
                  <a:srgbClr val="0B2D5C"/>
                </a:solidFill>
              </a:rPr>
              <a:t>Akash Sansugu Palaniswami (21D171001)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